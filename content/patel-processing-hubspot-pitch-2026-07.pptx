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3108960"/>
            <a:ext cx="5669280" cy="5669280"/>
          </a:xfrm>
          <a:prstGeom prst="ellipse">
            <a:avLst/>
          </a:prstGeom>
          <a:solidFill>
            <a:srgbClr val="D6A42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4335" y="-1737360"/>
            <a:ext cx="3108960" cy="3108960"/>
          </a:xfrm>
          <a:prstGeom prst="ellipse">
            <a:avLst/>
          </a:prstGeom>
          <a:solidFill>
            <a:srgbClr val="D6A42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MEMO  ·  MARKETING &amp; SALES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 for every </a:t>
            </a:r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8A64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</a:t>
            </a:r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we generate.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recommendation to adopt HubSpot as the shared system of record connecting marketing campaigns to sales conversion — across RetailzPOS, Moolah Points, and PtechPOS.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257800"/>
            <a:ext cx="1920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257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RETAILZPOS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24912" y="5257800"/>
            <a:ext cx="23591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525780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MOOLAH 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48656" y="5257800"/>
            <a:ext cx="16276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48656" y="525780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PTECHPOS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6309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PATEL PROCESSING LEADERSHIP  · 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can't currently see the line between ad spend and revenue.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66928" cy="566928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5" name="Image 0" descr="/tmp/claude-0/-home-user-Marketing/e0f4683d-305d-523a-b2e8-de1d2aedd5a9/scratchpad/pptx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2273564"/>
            <a:ext cx="317480" cy="31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103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products, three separate motions.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25880" y="277063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runs campaigns for RetailzPOS, Moolah Points, and PtechPOS, and there's no single record of which campaign actually produced a paying customer — only which one produced a click.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2148840"/>
            <a:ext cx="566928" cy="566928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9" name="Image 1" descr="/tmp/claude-0/-home-user-Marketing/e0f4683d-305d-523a-b2e8-de1d2aedd5a9/scratchpad/pptx/icon_in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364" y="2273564"/>
            <a:ext cx="317480" cy="317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2103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don't become anything actionable on their own.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040880" y="277063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conversion on a tagged landing page doesn't automatically turn into something sales can act on — it sits until someone manually reviews and forwards it.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13" name="Image 2" descr="/tmp/claude-0/-home-user-Marketing/e0f4683d-305d-523a-b2e8-de1d2aedd5a9/scratchpad/pptx/icon_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4285244"/>
            <a:ext cx="317480" cy="317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1148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has no consistent way to triage.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25880" y="478231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have no reliable signal for which inbound leads are worth calling first, so real selling time goes into manual sorting instead.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4160520"/>
            <a:ext cx="566928" cy="566928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17" name="Image 3" descr="/tmp/claude-0/-home-user-Marketing/e0f4683d-305d-523a-b2e8-de1d2aedd5a9/scratchpad/pptx/icon_hel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364" y="4285244"/>
            <a:ext cx="317480" cy="317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0880" y="41148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answer the one question that matters most.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040880" y="478231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did it cost us to acquire our last ten customers, and which campaign brought them in” currently requires stitching together ad-platform exports by hand.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systems problem, not a headcount problem — and it has a specific, well-understood fix.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PROCESSING · HUBSPOT RECOMMENDATION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 one CRM, shared by marketing and sales, across all three products.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1064240" cy="265176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31720"/>
            <a:ext cx="73152" cy="2651760"/>
          </a:xfrm>
          <a:prstGeom prst="rect">
            <a:avLst/>
          </a:prstGeom>
          <a:solidFill>
            <a:srgbClr val="D6A42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060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recommending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starting on the Starter tier — as the single system that captures a lead the moment they convert from a tagged campaign, automatically flags it as marketing-qualified once it meets our criteria, hands it to a sales rep in real time with full campaign context attached, and reports the resulting numbers back to both teams in one dashboard.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4434840"/>
            <a:ext cx="1920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4348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RETAILZPOS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35224" y="4434840"/>
            <a:ext cx="23591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35224" y="443484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MOOLAH 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40680" y="4434840"/>
            <a:ext cx="16276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44348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PTECHPOS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14616" y="4434840"/>
            <a:ext cx="35295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14616" y="4434840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BY PIPELINE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PROCESSING · HUBSPOT RECOMMENDATION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tagged click to a rep's queue, automatically.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forwarding, no lost campaign data, no lag between "this person is interested" and "someone is calling them."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0352" cy="530352"/>
          </a:xfrm>
          <a:prstGeom prst="ellipse">
            <a:avLst/>
          </a:prstGeom>
          <a:solidFill>
            <a:srgbClr val="D6A42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52144" y="2779776"/>
            <a:ext cx="1536192" cy="0"/>
          </a:xfrm>
          <a:prstGeom prst="line">
            <a:avLst/>
          </a:prstGeom>
          <a:noFill/>
          <a:ln w="19050">
            <a:solidFill>
              <a:srgbClr val="D6A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954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202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UTM-tagged Google or Meta ad drives a click to a product landing page.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61488" y="2514600"/>
            <a:ext cx="530352" cy="530352"/>
          </a:xfrm>
          <a:prstGeom prst="ellipse">
            <a:avLst/>
          </a:prstGeom>
          <a:solidFill>
            <a:srgbClr val="D6A429"/>
          </a:solidFill>
          <a:ln/>
        </p:spPr>
      </p:sp>
      <p:sp>
        <p:nvSpPr>
          <p:cNvPr id="11" name="Text 9"/>
          <p:cNvSpPr/>
          <p:nvPr/>
        </p:nvSpPr>
        <p:spPr>
          <a:xfrm>
            <a:off x="2761488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64992" y="2779776"/>
            <a:ext cx="1536192" cy="0"/>
          </a:xfrm>
          <a:prstGeom prst="line">
            <a:avLst/>
          </a:prstGeom>
          <a:noFill/>
          <a:ln w="19050">
            <a:solidFill>
              <a:srgbClr val="D6A4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320954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61488" y="3611880"/>
            <a:ext cx="202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writes source, medium, and campaign data onto the contact record automatically.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74336" y="2514600"/>
            <a:ext cx="530352" cy="530352"/>
          </a:xfrm>
          <a:prstGeom prst="ellipse">
            <a:avLst/>
          </a:prstGeom>
          <a:solidFill>
            <a:srgbClr val="D6A429"/>
          </a:solidFill>
          <a:ln/>
        </p:spPr>
      </p:sp>
      <p:sp>
        <p:nvSpPr>
          <p:cNvPr id="16" name="Text 14"/>
          <p:cNvSpPr/>
          <p:nvPr/>
        </p:nvSpPr>
        <p:spPr>
          <a:xfrm>
            <a:off x="4974336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577840" y="2779776"/>
            <a:ext cx="1536192" cy="0"/>
          </a:xfrm>
          <a:prstGeom prst="line">
            <a:avLst/>
          </a:prstGeom>
          <a:noFill/>
          <a:ln w="19050">
            <a:solidFill>
              <a:srgbClr val="D6A4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320954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74336" y="3611880"/>
            <a:ext cx="202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checks the lead against our MQL criteria and flips the lifecycle stage the moment it's met.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87184" y="2514600"/>
            <a:ext cx="530352" cy="530352"/>
          </a:xfrm>
          <a:prstGeom prst="ellipse">
            <a:avLst/>
          </a:prstGeom>
          <a:solidFill>
            <a:srgbClr val="D6A429"/>
          </a:solidFill>
          <a:ln/>
        </p:spPr>
      </p:sp>
      <p:sp>
        <p:nvSpPr>
          <p:cNvPr id="21" name="Text 19"/>
          <p:cNvSpPr/>
          <p:nvPr/>
        </p:nvSpPr>
        <p:spPr>
          <a:xfrm>
            <a:off x="7187184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790688" y="2779776"/>
            <a:ext cx="1536192" cy="0"/>
          </a:xfrm>
          <a:prstGeom prst="line">
            <a:avLst/>
          </a:prstGeom>
          <a:noFill/>
          <a:ln w="19050">
            <a:solidFill>
              <a:srgbClr val="D6A4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320954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87184" y="3611880"/>
            <a:ext cx="202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 is auto-assigned to a rep and a real-time notification goes out with the full campaign trail.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400032" y="2514600"/>
            <a:ext cx="530352" cy="530352"/>
          </a:xfrm>
          <a:prstGeom prst="ellipse">
            <a:avLst/>
          </a:prstGeom>
          <a:solidFill>
            <a:srgbClr val="D6A429"/>
          </a:solidFill>
          <a:ln/>
        </p:spPr>
      </p:sp>
      <p:sp>
        <p:nvSpPr>
          <p:cNvPr id="26" name="Text 24"/>
          <p:cNvSpPr/>
          <p:nvPr/>
        </p:nvSpPr>
        <p:spPr>
          <a:xfrm>
            <a:off x="9400032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00032" y="320954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00032" y="3611880"/>
            <a:ext cx="202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 works the deal through the same pipeline, visible to marketing as it happens.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PROCESSING · HUBSPOT RECOMMENDATION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Marketing, sales, and leadership working off the same record.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411480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6" name="Image 0" descr="/tmp/claude-0/-home-user-Marketing/e0f4683d-305d-523a-b2e8-de1d2aedd5a9/scratchpad/pptx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4067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capture and campaign attribution happen automatically, not by hand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 becomes a real, shared definition — not a spreadsheet argument with sales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what happens to a lead after it's handed off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66160" cy="411480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286000"/>
            <a:ext cx="548640" cy="548640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11" name="Image 1" descr="/tmp/claude-0/-home-user-Marketing/e0f4683d-305d-523a-b2e8-de1d2aedd5a9/scratchpad/pptx/icon_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141" y="24067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34747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arrive already qualified, not raw and unsorted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— source campaign, product line, on-site behavior — before the first call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queue, real-time notification, no shared inbox to monitor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66160" cy="411480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58200" y="2286000"/>
            <a:ext cx="548640" cy="548640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16" name="Image 2" descr="/tmp/claude-0/-home-user-Marketing/e0f4683d-305d-523a-b2e8-de1d2aedd5a9/scratchpad/pptx/icon_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1" y="240670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58200" y="34747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covering cost per lead, cost per MQL, and conversion rate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broken out by product line — RetailzPOS, Moolah Points, PtechPOS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waiting on a manual reporting cycle to know what's working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PROCESSING · HUBSPOT RECOMMENDATION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FINALLY MEASURE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numbers we currently can't produce on demand.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69164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82596"/>
            <a:ext cx="566928" cy="566928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6" name="Image 0" descr="/tmp/claude-0/-home-user-Marketing/e0f4683d-305d-523a-b2e8-de1d2aedd5a9/scratchpad/pptx/icon_user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84" y="2607320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214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per Lead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00200" y="263347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campaign, channel, and product line — not a blended, after-the-fact estimate.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349240" cy="169164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2482596"/>
            <a:ext cx="566928" cy="566928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11" name="Image 1" descr="/tmp/claude-0/-home-user-Marketing/e0f4683d-305d-523a-b2e8-de1d2aedd5a9/scratchpad/pptx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684" y="2607320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1214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per MQL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315200" y="263347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tells us whether a campaign is producing real interest, not just clicks.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49240" cy="169164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448556"/>
            <a:ext cx="566928" cy="566928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16" name="Image 2" descr="/tmp/claude-0/-home-user-Marketing/e0f4683d-305d-523a-b2e8-de1d2aedd5a9/scratchpad/pptx/icon_repe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84" y="4573280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873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MQL → SQL Conversion Rate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00200" y="459943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marketing-to-sales handoff is actually working, and where it isn't.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886200"/>
            <a:ext cx="5349240" cy="169164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37960" y="4448556"/>
            <a:ext cx="566928" cy="566928"/>
          </a:xfrm>
          <a:prstGeom prst="ellipse">
            <a:avLst/>
          </a:prstGeom>
          <a:solidFill>
            <a:srgbClr val="D6A429"/>
          </a:solidFill>
          <a:ln/>
        </p:spPr>
      </p:sp>
      <p:pic>
        <p:nvPicPr>
          <p:cNvPr id="21" name="Image 3" descr="/tmp/claude-0/-home-user-Marketing/e0f4683d-305d-523a-b2e8-de1d2aedd5a9/scratchpad/pptx/icon_doll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684" y="4573280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0873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per Customer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315200" y="459943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actually justifies — or kills — a campaign's budget.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have a baseline for any of these today. Phase 1 exists specifically to establish one, so future budget conversations run on real numbers instead of estimates.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PROCESSING · HUBSPOT RECOMMENDATION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TOOL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compared three real options. Only one makes this mechanism native.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291840"/>
        </p:xfrm>
        <a:graphic>
          <a:graphicData uri="http://schemas.openxmlformats.org/drawingml/2006/table">
            <a:tbl>
              <a:tblPr/>
              <a:tblGrid>
                <a:gridCol w="3017520"/>
                <a:gridCol w="2697480"/>
                <a:gridCol w="2697480"/>
                <a:gridCol w="26517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HubSpot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Zoho CRM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Freshsales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UTM capture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64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5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5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 as a system 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64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lifecycle 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5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your 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5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lead scoring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sales handoff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64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5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5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64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~$15–20 / seat /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5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$14–23 / user /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5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~$11–47 / user /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Ad-platform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64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(deeper at Pro)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5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connector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5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(Google), connector (Meta)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comparison, pricing sources, and integration detail in the earlier CRM Recommendation memo (</a:t>
            </a:r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8C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crm-recommendation-ads-marketing-sales-2026-07.md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HubSpot is the only option where the MQL-to-handoff mechanism is a built-in concept rather than something we'd construct and maintain ourselves.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PROCESSING · HUBSPOT RECOMMENDATION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modest starting cost, with a clear, optional upgrade path.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288036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5328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HubSpot Starter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044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$15–20 / seat / mo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59359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Hub, Sales Hub, and Service Hub Starter bundled. Covers UTM capture, the MQL lifecycle stage, and real-time sales notifications — everything the pilot needs.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349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LATER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5328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Hub Professional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3044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$800–890 / mo + $3,000 onboarding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359359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once we know which campaigns are working and want to sync audiences and conversions directly back to Google and Meta.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64240" cy="86868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1663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asking to approve Phase 2 today. We're asking to approve Phase 1, prove the mechanism, and bring the case for Phase 2 back with real cost-per-MQL and cost-per-customer numbers behind it.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PROCESSING · HUBSPOT RECOMMENDATION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ROLLOUT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phases, twelve weeks to a real answer.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611880" cy="393192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77440"/>
            <a:ext cx="548640" cy="548640"/>
          </a:xfrm>
          <a:prstGeom prst="ellipse">
            <a:avLst/>
          </a:prstGeom>
          <a:solidFill>
            <a:srgbClr val="D6A42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HubSpot Starter. Connect one product line's ad campaigns — starting with RetailzPOS, our most established paid channel. Define MQL criteria with marketing and sales together, and wire the handoff workflow.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057400"/>
            <a:ext cx="3611880" cy="393192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377440"/>
            <a:ext cx="548640" cy="548640"/>
          </a:xfrm>
          <a:prstGeom prst="ellipse">
            <a:avLst/>
          </a:prstGeom>
          <a:solidFill>
            <a:srgbClr val="D6A429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108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3520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17720" y="39319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Moolah Points and PtechPOS onto the same instance, separated by pipeline. Train sales on the new queue and notification flow.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2057400"/>
            <a:ext cx="3611880" cy="3931920"/>
          </a:xfrm>
          <a:prstGeom prst="rect">
            <a:avLst/>
          </a:prstGeom>
          <a:solidFill>
            <a:srgbClr val="F4F2E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2377440"/>
            <a:ext cx="548640" cy="548640"/>
          </a:xfrm>
          <a:prstGeom prst="ellipse">
            <a:avLst/>
          </a:prstGeom>
          <a:solidFill>
            <a:srgbClr val="D6A429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3108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66760" y="3520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12+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66760" y="39319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real cost-per-MQL and cost-per-customer data from the pilot. Decide, with actual numbers in hand, whether Phase 2's ad-platform feedback loop is worth the upgrade.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PROCESSING · HUBSPOT RECOMMENDATION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931920"/>
            <a:ext cx="5120640" cy="5120640"/>
          </a:xfrm>
          <a:prstGeom prst="ellipse">
            <a:avLst/>
          </a:prstGeom>
          <a:solidFill>
            <a:srgbClr val="D6A429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92024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Phase 1. </a:t>
            </a:r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8A64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the data make the case for Phase 2.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5B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Starter-tier cost is modest against what we already spend on campaigns without matching visibility into what they're actually producing. The ask today is budget approval for Phase 1 and a named owner to lead the HubSpot setup — not a twelve-month commitment to the full platform.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2700">
            <a:solidFill>
              <a:srgbClr val="DDD8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144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MARKETING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949440" y="6144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PROCESSING  ·  JULY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2026-07-30T14:44:45Z</dcterms:created>
  <dcterms:modified xsi:type="dcterms:W3CDTF">2026-07-30T14:44:45Z</dcterms:modified>
</cp:coreProperties>
</file>